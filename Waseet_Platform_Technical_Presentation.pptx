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وسيط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التحول الرقمي لعملياتنا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0EA5E9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تقني — ماذا نبني ولماذا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أبريل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الوضع الحالي — لماذا نحتاج التحول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366760" y="1216152"/>
            <a:ext cx="54864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7772400" cy="5212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406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الطلبات عبر Excel و WhatsApp و Email — أدوات غير مترابطة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366760" y="1810512"/>
            <a:ext cx="54864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37360"/>
            <a:ext cx="777240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7406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يوجد تتبع مركزي للطلبات — كل شيء يعتمد على ذاكرة الموظفين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66760" y="2404872"/>
            <a:ext cx="54864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31720"/>
            <a:ext cx="7772400" cy="5212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31720"/>
            <a:ext cx="7406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صعوبة متابعة المستندات الناقصة والمكتملة — تأخيرات متكررة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66760" y="2999232"/>
            <a:ext cx="54864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926080"/>
            <a:ext cx="777240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26080"/>
            <a:ext cx="7406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توجد تقارير مالية دقيقة أو لحظية — قرارات بدون بيانات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66760" y="3593592"/>
            <a:ext cx="54864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520440"/>
            <a:ext cx="7772400" cy="5212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7406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العميل لا يرى حالة طلبه — يتصل ويسأل باستمرار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66760" y="4187952"/>
            <a:ext cx="54864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14800"/>
            <a:ext cx="777240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7406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التوسع يعني توظيف المزيد بنفس النسبة — لا كفاءة تشغيلية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4636008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71600" y="45720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النتيجة: عمليات يدوية مكلفة، تجربة عميل غير احترافية، نمو محدود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 — منصة تشغيل رقمية متكاملة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26680" y="1170432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2" y="1225296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1170432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097280"/>
            <a:ext cx="6675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واحدة تربط العميل، فريق التشغيل، والمزودين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1719072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26680" y="1792224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847088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66760" y="1792224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1719072"/>
            <a:ext cx="6675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بوابة للعميل: يرفع طلبه، يتابع حالته، يرى العروض، يدفع إلكترونيًا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31520" y="2340864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26680" y="2414016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2468880"/>
            <a:ext cx="292608" cy="2926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366760" y="2414016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3"/>
          <p:cNvSpPr/>
          <p:nvPr/>
        </p:nvSpPr>
        <p:spPr>
          <a:xfrm>
            <a:off x="914400" y="2340864"/>
            <a:ext cx="6675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إدارة: الفريق يدير الطلبات، يراجع المستندات، يعتمد العروض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31520" y="2962656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26680" y="3035808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090672"/>
            <a:ext cx="292608" cy="2926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366760" y="3035808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17"/>
          <p:cNvSpPr/>
          <p:nvPr/>
        </p:nvSpPr>
        <p:spPr>
          <a:xfrm>
            <a:off x="914400" y="2962656"/>
            <a:ext cx="6675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بوابة المزودين (مرحلة لاحقة): المراكز الطبية والمعاهد يدخلون عروضهم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731520" y="3584448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26680" y="3657600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3712464"/>
            <a:ext cx="292608" cy="29260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366760" y="3657600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1"/>
          <p:cNvSpPr/>
          <p:nvPr/>
        </p:nvSpPr>
        <p:spPr>
          <a:xfrm>
            <a:off x="914400" y="3584448"/>
            <a:ext cx="6675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إشعارات تلقائي: WhatsApp + Email + SMS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731520" y="4206240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726680" y="4279392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4334256"/>
            <a:ext cx="292608" cy="292608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8366760" y="4279392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25"/>
          <p:cNvSpPr/>
          <p:nvPr/>
        </p:nvSpPr>
        <p:spPr>
          <a:xfrm>
            <a:off x="914400" y="4206240"/>
            <a:ext cx="6675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شيء موثق ومركزي وقابل للقياس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نبني — مكونات المنصة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3749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097280"/>
            <a:ext cx="374904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3703320" y="132588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6472" y="138988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بوابة العميل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19659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تسجيل، إنشاء طلب، رفع مستندات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دفع إلكتروني، متابعة الحالة، رسائل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097280"/>
            <a:ext cx="3749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97280"/>
            <a:ext cx="374904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0"/>
          <p:cNvSpPr/>
          <p:nvPr/>
        </p:nvSpPr>
        <p:spPr>
          <a:xfrm>
            <a:off x="7726680" y="132588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38988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9204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الإدارة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89204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92040" y="19659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الطلبات، توزيع العمل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المستندات، تقارير مالية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85800" y="3108960"/>
            <a:ext cx="3749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3108960"/>
            <a:ext cx="374904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Shape 16"/>
          <p:cNvSpPr/>
          <p:nvPr/>
        </p:nvSpPr>
        <p:spPr>
          <a:xfrm>
            <a:off x="3703320" y="333756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340156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68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محرك الطلبات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68680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Engine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68680" y="39776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حالات ذكي، تتبع كل مرحلة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تدقيق كامل لكل عملية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709160" y="3108960"/>
            <a:ext cx="3749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09160" y="3108960"/>
            <a:ext cx="374904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Shape 22"/>
          <p:cNvSpPr/>
          <p:nvPr/>
        </p:nvSpPr>
        <p:spPr>
          <a:xfrm>
            <a:off x="7726680" y="333756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401568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9204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الإشعارات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4892040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892040" y="39776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إشعارات تلقائية عبر كل القنوات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كل تحديث على الطلب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خدمات — منصة واحدة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11430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1234440"/>
            <a:ext cx="548640" cy="548640"/>
          </a:xfrm>
          <a:prstGeom prst="ellipse">
            <a:avLst/>
          </a:prstGeom>
          <a:solidFill>
            <a:srgbClr val="0284C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129844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88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العلاج الطبي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303520" y="1234440"/>
            <a:ext cx="1188720" cy="274320"/>
          </a:xfrm>
          <a:prstGeom prst="rect">
            <a:avLst/>
          </a:prstGeom>
          <a:solidFill>
            <a:srgbClr val="0284C7">
              <a:alpha val="1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303520" y="1234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الأولوية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" y="16459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طلب  ←  مراجعة  ←  عروض من المراكز  ←  اعتماد  ←  اختيار  ←  دفع  ←  تنسيق كامل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423160"/>
            <a:ext cx="7863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2423160"/>
            <a:ext cx="54864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0" y="256032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2624328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2514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التعليم والمعاهد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303520" y="2560320"/>
            <a:ext cx="1188720" cy="274320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0" y="2560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الثانية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914400" y="2971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كتالوج معاهد  ←  مقارنة  ←  اختيار  ←  دفع  ←  تسجيل  ←  تنسيق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" y="3749040"/>
            <a:ext cx="7863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" y="3749040"/>
            <a:ext cx="54864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0" y="3886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3950208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4400" y="3840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التأشيرات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5303520" y="3886200"/>
            <a:ext cx="118872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530352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الثانية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14400" y="4297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اختيار الدولة والنوع  ←  دفع  ←  رفع مستندات  ←  متابعة  ←  النتيجة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1371600" y="4389120"/>
            <a:ext cx="6400800" cy="411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9" name="Text 24"/>
          <p:cNvSpPr/>
          <p:nvPr/>
        </p:nvSpPr>
        <p:spPr>
          <a:xfrm>
            <a:off x="1371600" y="4389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بنية موحدة — كل خدمة تستخدم نفس محرك الطلبات والمستندات والدفع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البنية التقنية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18872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2618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(React)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سريع، يدعم PWA وتعدد اللغات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05156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2618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(Node.js)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بنية معيارية، TypeScript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105156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40880" y="118872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26187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264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264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قوية، مرنة، آمنة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" y="292608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645920" y="306324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3136392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3152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3152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تخزين آمن للمستندات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337560" y="292608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43400" y="306324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3136392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4290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4290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42900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تحديثات لحظية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035040" y="292608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040880" y="306324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3136392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1264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1264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Moyasar / HyperPay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12648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mada, Visa, Apple Pay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الطلبات الذكي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1005840"/>
            <a:ext cx="45720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005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WAS-MED-2026-00001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55280" y="1746504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18013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691640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شريط تقدم مرئي للعميل يوضح المرحلة الحالية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55280" y="2276856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233172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222199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حالات ذكي — كل انتقال موثق (من غيّر، متى، لماذا)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55280" y="2807208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28620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" y="2752344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نماذج ذكية تتغير حسب نوع الخدمة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955280" y="3337560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339242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3282696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تتبع المستندات المطلوبة والناقصة تلقائيًا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955280" y="3867912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88" y="392277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" y="3813048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مركز رسائل داخل كل طلب — كل المحادثات موثقة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955280" y="4398264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288" y="4453128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1520" y="4343400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تنبيهات تلقائية عند التأخر عن SLA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العميل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663440" y="1051560"/>
            <a:ext cx="3931920" cy="7406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1179576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0728" y="12344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00600" y="1051560"/>
            <a:ext cx="3154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سهل برقم الجوال + OTP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901952"/>
            <a:ext cx="3931920" cy="7406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8046720" y="2029968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20848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1901952"/>
            <a:ext cx="3154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حاسبة تكلفة تقديرية قبل بدء الطلب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63440" y="2752344"/>
            <a:ext cx="3931920" cy="7406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46720" y="2880360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293522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0600" y="2752344"/>
            <a:ext cx="3154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رفع المستندات مع تتبع واضح: مكتمل / ناقص / مرفوض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3602736"/>
            <a:ext cx="3931920" cy="7406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046720" y="3730752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378561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3602736"/>
            <a:ext cx="3154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مقارنة العروض بشكل مرتب وواضح (العلاج الطبي)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1051560"/>
            <a:ext cx="3931920" cy="7406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5"/>
          <p:cNvSpPr/>
          <p:nvPr/>
        </p:nvSpPr>
        <p:spPr>
          <a:xfrm>
            <a:off x="3840480" y="1179576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123444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94360" y="1051560"/>
            <a:ext cx="3154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دفع إلكتروني آمن (mada, Visa, Apple Pay)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57200" y="1901952"/>
            <a:ext cx="3931920" cy="7406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840480" y="2029968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8" y="208483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94360" y="1901952"/>
            <a:ext cx="3154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متابعة لحظية لحالة الطلب عبر شريط تقدم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57200" y="2752344"/>
            <a:ext cx="3931920" cy="7406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1"/>
          <p:cNvSpPr/>
          <p:nvPr/>
        </p:nvSpPr>
        <p:spPr>
          <a:xfrm>
            <a:off x="3840480" y="2880360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488" y="2935224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94360" y="2752344"/>
            <a:ext cx="3154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إشعارات فورية عبر WhatsApp و SMS والبريد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457200" y="3602736"/>
            <a:ext cx="3931920" cy="7406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24"/>
          <p:cNvSpPr/>
          <p:nvPr/>
        </p:nvSpPr>
        <p:spPr>
          <a:xfrm>
            <a:off x="3840480" y="3730752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4488" y="3785616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94360" y="3602736"/>
            <a:ext cx="3154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تحكم شخصية لكل طلباته ومستنداته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يستفيد فريق التشغيل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14300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515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واحدة لكل الطلبات بدلاً من Excel + WhatsApp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1527048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184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5270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توزيع تلقائي وعادل للطلبات على الفريق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1520" y="2002536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09397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002536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تنبيهات فورية عند وصول طلب جديد أو مستند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1520" y="2478024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56946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2478024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المستندات واعتمادها بضغطة زر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31520" y="2953512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304495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" y="295351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إدخال العروض ومراجعتها وإضافة الهامش الربحي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731520" y="3429000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352044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14400" y="34290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إرسال رسائل للعميل من داخل النظام مباشرة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731520" y="3904488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3995928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14400" y="39044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الملاحظات الداخلية موثقة ومحفوظة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731520" y="4379976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4471416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14400" y="4379976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 تلقائي عند اقتراب انتهاء SLA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تستفيد الإدارة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22376" y="1051560"/>
            <a:ext cx="374904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831336" y="1188720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4488" y="12527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رؤية شاملة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9536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العمليات في لحظة واحدة — لوحة مؤشرات مركزية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72584" y="1051560"/>
            <a:ext cx="374904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7781544" y="1188720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96" y="12527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9744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مالية دقيقة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09744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إيرادات، هوامش ربح، مستحقات، مستردات — تلقائية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22376" y="2350008"/>
            <a:ext cx="374904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3831336" y="2487168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25511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" y="2487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قياس أداء الفريق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59536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وقت المعالجة، عدد الطلبات، نسبة الإنجاز لكل موظف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72584" y="2350008"/>
            <a:ext cx="374904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781544" y="2487168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255117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09744" y="2487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تتبع أداء المزودين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09744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يرد أسرع؟ من عروضه أفضل؟ بيانات حقيقية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22376" y="3648456"/>
            <a:ext cx="374904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3831336" y="3785616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384962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59536" y="37856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تدقيق كامل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59536" y="41513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فعل ماذا ومتى — مساءلة وشفافية تامة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672584" y="3648456"/>
            <a:ext cx="374904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7781544" y="3785616"/>
            <a:ext cx="438912" cy="438912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4696" y="384962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09744" y="37856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مؤشرات أداء KPIs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809744" y="41513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قرارات مبنية على أرقام حقيقية وليس تقديرات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الأمان وحماية البيانات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73352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16002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تشفير كامل للبيانات أثناء النقل والتخزين (AES-256 + TLS 1.3)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130552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20574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حماية خاصة للبيانات الطبية الحساسة مع سجل وصول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587752"/>
            <a:ext cx="256032" cy="2560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5146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صلاحيات متعدد المستويات — كل موظف يرى فقط ما يخصه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044952"/>
            <a:ext cx="256032" cy="2560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31520" y="2971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مصادقة ثنائية (2FA) إلزامية لحسابات الموظفين</a:t>
            </a:r>
            <a:endParaRPr lang="en-US" sz="13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502152"/>
            <a:ext cx="256032" cy="2560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31520" y="34290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تدقيق لكل عملية وصول للبيانات</a:t>
            </a:r>
            <a:endParaRPr lang="en-US" sz="13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3959352"/>
            <a:ext cx="256032" cy="25603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31520" y="38862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نسخ احتياطية يومية تلقائية</a:t>
            </a:r>
            <a:endParaRPr lang="en-US" sz="13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416552"/>
            <a:ext cx="256032" cy="25603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31520" y="43434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متوافق مع نظام حماية البيانات الشخصية السعودي</a:t>
            </a:r>
            <a:endParaRPr lang="en-US" sz="1300" dirty="0"/>
          </a:p>
        </p:txBody>
      </p:sp>
      <p:sp>
        <p:nvSpPr>
          <p:cNvPr id="19" name="Text 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التنفيذ — 3 مراحل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4340" y="100584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" y="1005840"/>
            <a:ext cx="260604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25780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5780" y="1261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الأشهر 1-5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5780" y="1600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الأساس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2011680"/>
            <a:ext cx="233172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" y="2011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بوابة العميل + لوحة الإدارة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1500" y="2395728"/>
            <a:ext cx="2331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" y="23957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خدمة العلاج الطبي (كاملة)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" y="2779776"/>
            <a:ext cx="233172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" y="277977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الدفع الإلكتروني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" y="3163824"/>
            <a:ext cx="2331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" y="316382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المستندات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1500" y="3547872"/>
            <a:ext cx="233172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" y="35478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الإشعارات (Email + SMS)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1500" y="3931920"/>
            <a:ext cx="2331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" y="3931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عربي + إنجليزي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68980" y="100584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8980" y="1005840"/>
            <a:ext cx="26060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3360420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60420" y="1261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الأشهر 5-8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0420" y="1600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406140" y="2011680"/>
            <a:ext cx="233172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3451860" y="2011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خدمة التعليم والمعاهد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06140" y="2395728"/>
            <a:ext cx="2331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51860" y="23957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خدمة التأشيرات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06140" y="2779776"/>
            <a:ext cx="233172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3451860" y="277977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تكامل WhatsApp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06140" y="3163824"/>
            <a:ext cx="2331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451860" y="316382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(تطبيق قابل للتثبيت)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06140" y="3547872"/>
            <a:ext cx="233172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3451860" y="35478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بوابة المزودين (نسخة أولى)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06140" y="3931920"/>
            <a:ext cx="2331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451860" y="3931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لغات إضافية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03620" y="100584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03620" y="1005840"/>
            <a:ext cx="26060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195060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95060" y="1261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الأشهر 9-14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95060" y="1600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التطوير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240780" y="2011680"/>
            <a:ext cx="233172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6286500" y="2011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بوابة مزودين كاملة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40780" y="2395728"/>
            <a:ext cx="2331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286500" y="23957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تعدد العملات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40780" y="2779776"/>
            <a:ext cx="233172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6286500" y="277977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تكامل API خارجي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40780" y="3163824"/>
            <a:ext cx="2331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286500" y="316382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تحليلات متقدمة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40780" y="3547872"/>
            <a:ext cx="233172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6286500" y="35478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تقييمات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40780" y="3931920"/>
            <a:ext cx="2331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286500" y="3931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حتى 8 لغات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الأثر المتوقع — قبل وبعد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47472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قبل المنصة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960120"/>
            <a:ext cx="347472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960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بعد المنصة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360" y="960120"/>
            <a:ext cx="109728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960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347472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63040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أيام من التنسيق اليدوي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0" y="1463040"/>
            <a:ext cx="10972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146304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12080" y="1463040"/>
            <a:ext cx="347472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463040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ساعات مع النظام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34747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938528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العميل يتصل ويسأل باستمرار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23360" y="1938528"/>
            <a:ext cx="10972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193852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1938528"/>
            <a:ext cx="34747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938528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يتابع بنفسه لحظيًا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414016"/>
            <a:ext cx="347472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414016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المستندات تُنسى أو تتأخر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23360" y="2414016"/>
            <a:ext cx="10972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2414016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12080" y="2414016"/>
            <a:ext cx="347472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2414016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تنبيهات تلقائية فورية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2889504"/>
            <a:ext cx="34747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889504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يدوية وغير دقيقة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023360" y="2889504"/>
            <a:ext cx="10972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2889504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12080" y="2889504"/>
            <a:ext cx="34747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2889504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تلقائية ولحظية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3364992"/>
            <a:ext cx="347472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364992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أداء الفريق غير قابل للقياس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023360" y="3364992"/>
            <a:ext cx="10972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023360" y="3364992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212080" y="3364992"/>
            <a:ext cx="347472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3364992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مؤشرات واضحة ومراقبة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3840480"/>
            <a:ext cx="34747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840480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التوسع = موظفين بنفس النسبة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023360" y="3840480"/>
            <a:ext cx="10972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023360" y="384048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212080" y="3840480"/>
            <a:ext cx="34747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0" y="3840480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النظام يتحمل حجم أكبر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7200" y="4315968"/>
            <a:ext cx="347472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315968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تعتمد على الموظف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023360" y="4315968"/>
            <a:ext cx="10972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4023360" y="431596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212080" y="4315968"/>
            <a:ext cx="347472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0" y="4315968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موحدة واحترافية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ملخص الاستثمار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1115568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1704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تشغيل تملكها الشركة بالكامل — ليست اشتراكًا شهريًا بخدمة خارجية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600200"/>
            <a:ext cx="76809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818120" y="1664208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71907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60020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أصل رقمي يزيد قيمته مع الوقت والبيانات المتراكمة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148840"/>
            <a:ext cx="76809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9"/>
          <p:cNvSpPr/>
          <p:nvPr/>
        </p:nvSpPr>
        <p:spPr>
          <a:xfrm>
            <a:off x="7818120" y="2212848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2267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14884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بنية تقنية قابلة للتوسع لخدمات جديدة مستقبلًا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520" y="2697480"/>
            <a:ext cx="76809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7818120" y="2761488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281635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269748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بيانات مركزية تُمكّن من اتخاذ قرارات أفضل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31520" y="3246120"/>
            <a:ext cx="76809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5"/>
          <p:cNvSpPr/>
          <p:nvPr/>
        </p:nvSpPr>
        <p:spPr>
          <a:xfrm>
            <a:off x="7818120" y="3310128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3364992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324612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عميل احترافية ترفع الثقة والولاء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31520" y="3794760"/>
            <a:ext cx="76809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8"/>
          <p:cNvSpPr/>
          <p:nvPr/>
        </p:nvSpPr>
        <p:spPr>
          <a:xfrm>
            <a:off x="7818120" y="3858768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3913632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" y="37947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كفاءة تشغيلية تقلل التكاليف وتزيد الإنتاجية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9" name="Text 21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تكلفة البنية التحتية الشهرية: ~$150-200 — أقل من راتب موظف واحد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الخطوة القادمة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743200" cy="27432"/>
          </a:xfrm>
          <a:prstGeom prst="rect">
            <a:avLst/>
          </a:prstGeom>
          <a:solidFill>
            <a:srgbClr val="0EA5E9">
              <a:alpha val="6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7556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64592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المنصة ليست مجرد موقع — هي نظام تشغيل رقمي يُحوّل طريقة عملنا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3500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24028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نبدأ بخدمة العلاج الطبي (عملنا الأساسي) ونتوسع بناءً على النتائج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94436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83464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التنفيذ على مراحل = مخاطر أقل + نتائج أسرع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1371600" y="3749040"/>
            <a:ext cx="6400800" cy="64008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1371600" y="3749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التحول الرقمي ليس خيارًا — هو ضرورة للنمو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Waseet Platform - Technical Presentation</dc:title>
  <dc:subject>PptxGenJS Presentation</dc:subject>
  <dc:creator>Waseet Platform</dc:creator>
  <cp:lastModifiedBy>Waseet Platform</cp:lastModifiedBy>
  <cp:revision>1</cp:revision>
  <dcterms:created xsi:type="dcterms:W3CDTF">2026-04-13T06:36:01Z</dcterms:created>
  <dcterms:modified xsi:type="dcterms:W3CDTF">2026-04-13T06:36:01Z</dcterms:modified>
</cp:coreProperties>
</file>